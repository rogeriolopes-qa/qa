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67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9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90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3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4682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0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80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23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91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2D4CF-0BAF-4D7A-9F2D-0C7E7878422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22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2D4CF-0BAF-4D7A-9F2D-0C7E7878422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B4ED3-EE66-430A-A5FC-79BCB7E77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5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Setor</a:t>
            </a:r>
            <a:r>
              <a:rPr dirty="0"/>
              <a:t> de </a:t>
            </a:r>
            <a:r>
              <a:rPr dirty="0" err="1"/>
              <a:t>Qualidade</a:t>
            </a:r>
            <a:r>
              <a:rPr dirty="0"/>
              <a:t> - </a:t>
            </a:r>
            <a:r>
              <a:rPr dirty="0" smtClean="0"/>
              <a:t>BIU</a:t>
            </a:r>
            <a:r>
              <a:rPr lang="pt-BR" dirty="0" smtClean="0"/>
              <a:t>D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Estrutura, Processos e KPIs</a:t>
            </a:r>
          </a:p>
          <a:p>
            <a:r>
              <a:t>Rogério Lopes - QA Lead</a:t>
            </a:r>
          </a:p>
          <a:p>
            <a:r>
              <a:t>Fevereiro 2026</a:t>
            </a:r>
          </a:p>
        </p:txBody>
      </p:sp>
      <p:pic>
        <p:nvPicPr>
          <p:cNvPr id="4" name="Picture 2" descr="BIUD | Linked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29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e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Por</a:t>
            </a:r>
            <a:r>
              <a:rPr dirty="0"/>
              <a:t> que </a:t>
            </a:r>
            <a:r>
              <a:rPr dirty="0" err="1"/>
              <a:t>estruturamos</a:t>
            </a:r>
            <a:r>
              <a:rPr dirty="0"/>
              <a:t> Quality Assurance?</a:t>
            </a:r>
          </a:p>
          <a:p>
            <a:pPr lvl="1"/>
            <a:r>
              <a:rPr b="1" dirty="0" err="1"/>
              <a:t>Problema</a:t>
            </a:r>
            <a:r>
              <a:rPr dirty="0"/>
              <a:t>: </a:t>
            </a:r>
            <a:r>
              <a:rPr dirty="0" err="1"/>
              <a:t>Expectativas</a:t>
            </a:r>
            <a:r>
              <a:rPr dirty="0"/>
              <a:t> </a:t>
            </a:r>
            <a:r>
              <a:rPr dirty="0" err="1"/>
              <a:t>desalinhadas</a:t>
            </a:r>
            <a:r>
              <a:rPr dirty="0"/>
              <a:t>, </a:t>
            </a:r>
            <a:r>
              <a:rPr lang="pt-BR" dirty="0" smtClean="0"/>
              <a:t>sem setor de qualidade</a:t>
            </a:r>
            <a:r>
              <a:rPr dirty="0" smtClean="0"/>
              <a:t>, </a:t>
            </a:r>
            <a:r>
              <a:rPr dirty="0"/>
              <a:t>gaps de </a:t>
            </a:r>
            <a:r>
              <a:rPr dirty="0" err="1"/>
              <a:t>qualidade</a:t>
            </a:r>
            <a:r>
              <a:rPr dirty="0"/>
              <a:t> e </a:t>
            </a:r>
            <a:r>
              <a:rPr dirty="0" err="1"/>
              <a:t>conflitos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lang="pt-BR" dirty="0" smtClean="0"/>
              <a:t>processos</a:t>
            </a:r>
            <a:br>
              <a:rPr lang="pt-BR" dirty="0" smtClean="0"/>
            </a:br>
            <a:endParaRPr dirty="0"/>
          </a:p>
          <a:p>
            <a:pPr lvl="1"/>
            <a:r>
              <a:rPr b="1" dirty="0" err="1"/>
              <a:t>Solução</a:t>
            </a:r>
            <a:r>
              <a:rPr dirty="0"/>
              <a:t>: </a:t>
            </a:r>
            <a:r>
              <a:rPr dirty="0" err="1"/>
              <a:t>Definir</a:t>
            </a:r>
            <a:r>
              <a:rPr dirty="0"/>
              <a:t> </a:t>
            </a:r>
            <a:r>
              <a:rPr dirty="0" err="1"/>
              <a:t>escopo</a:t>
            </a:r>
            <a:r>
              <a:rPr dirty="0"/>
              <a:t> </a:t>
            </a:r>
            <a:r>
              <a:rPr dirty="0" err="1"/>
              <a:t>claro</a:t>
            </a:r>
            <a:r>
              <a:rPr dirty="0"/>
              <a:t> de </a:t>
            </a:r>
            <a:r>
              <a:rPr dirty="0" err="1"/>
              <a:t>atuação</a:t>
            </a:r>
            <a:r>
              <a:rPr dirty="0"/>
              <a:t> do QA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as </a:t>
            </a:r>
            <a:r>
              <a:rPr dirty="0" err="1"/>
              <a:t>fases</a:t>
            </a:r>
            <a:r>
              <a:rPr dirty="0"/>
              <a:t> do </a:t>
            </a:r>
            <a:r>
              <a:rPr dirty="0" err="1"/>
              <a:t>ciclo</a:t>
            </a:r>
            <a:r>
              <a:rPr dirty="0"/>
              <a:t> de </a:t>
            </a:r>
            <a:r>
              <a:rPr dirty="0" err="1"/>
              <a:t>desenvolvimento</a:t>
            </a:r>
            <a:endParaRPr dirty="0"/>
          </a:p>
          <a:p>
            <a:pPr lvl="1"/>
            <a:endParaRPr lang="pt-BR" dirty="0" smtClean="0"/>
          </a:p>
          <a:p>
            <a:pPr lvl="1"/>
            <a:r>
              <a:rPr b="1" dirty="0" err="1" smtClean="0"/>
              <a:t>Objetivo</a:t>
            </a:r>
            <a:r>
              <a:rPr b="1" dirty="0" smtClean="0"/>
              <a:t> </a:t>
            </a:r>
            <a:r>
              <a:rPr b="1" dirty="0" err="1"/>
              <a:t>Estratégico</a:t>
            </a:r>
            <a:r>
              <a:rPr dirty="0"/>
              <a:t>: </a:t>
            </a:r>
            <a:r>
              <a:rPr dirty="0" err="1"/>
              <a:t>Transformar</a:t>
            </a:r>
            <a:r>
              <a:rPr dirty="0"/>
              <a:t> </a:t>
            </a:r>
            <a:r>
              <a:rPr dirty="0" err="1"/>
              <a:t>percepção</a:t>
            </a:r>
            <a:r>
              <a:rPr dirty="0"/>
              <a:t> de </a:t>
            </a:r>
            <a:r>
              <a:rPr dirty="0" err="1"/>
              <a:t>qualidade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dados </a:t>
            </a:r>
            <a:r>
              <a:rPr dirty="0" err="1"/>
              <a:t>acionáveis</a:t>
            </a:r>
            <a:r>
              <a:rPr dirty="0"/>
              <a:t> e </a:t>
            </a:r>
            <a:r>
              <a:rPr dirty="0" err="1"/>
              <a:t>reduzir</a:t>
            </a:r>
            <a:r>
              <a:rPr dirty="0"/>
              <a:t> escape de </a:t>
            </a:r>
            <a:r>
              <a:rPr dirty="0" err="1"/>
              <a:t>defeitos</a:t>
            </a:r>
            <a:r>
              <a:rPr dirty="0"/>
              <a:t> para </a:t>
            </a:r>
            <a:r>
              <a:rPr dirty="0" err="1"/>
              <a:t>Produção</a:t>
            </a:r>
            <a:endParaRPr dirty="0"/>
          </a:p>
          <a:p>
            <a:pPr lvl="1"/>
            <a:endParaRPr lang="pt-BR" dirty="0" smtClean="0"/>
          </a:p>
          <a:p>
            <a:pPr lvl="1"/>
            <a:r>
              <a:rPr b="1" dirty="0" err="1" smtClean="0"/>
              <a:t>Impacto</a:t>
            </a:r>
            <a:r>
              <a:rPr dirty="0"/>
              <a:t>: </a:t>
            </a:r>
            <a:r>
              <a:rPr dirty="0" err="1"/>
              <a:t>Alinhamento</a:t>
            </a:r>
            <a:r>
              <a:rPr dirty="0"/>
              <a:t> com </a:t>
            </a:r>
            <a:r>
              <a:rPr dirty="0" err="1"/>
              <a:t>desenvolvimento</a:t>
            </a:r>
            <a:r>
              <a:rPr dirty="0"/>
              <a:t>, PO e stakeholders </a:t>
            </a:r>
            <a:r>
              <a:rPr dirty="0" err="1"/>
              <a:t>desde</a:t>
            </a:r>
            <a:r>
              <a:rPr dirty="0"/>
              <a:t> o </a:t>
            </a:r>
            <a:r>
              <a:rPr dirty="0" err="1"/>
              <a:t>refinamento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o deploy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do Setor de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Princípios</a:t>
            </a:r>
            <a:r>
              <a:rPr dirty="0"/>
              <a:t> de </a:t>
            </a:r>
            <a:r>
              <a:rPr dirty="0" err="1"/>
              <a:t>Atuação</a:t>
            </a:r>
            <a:endParaRPr dirty="0"/>
          </a:p>
          <a:p>
            <a:pPr lvl="1"/>
            <a:r>
              <a:rPr b="1" dirty="0"/>
              <a:t>Shift-Left</a:t>
            </a:r>
            <a:r>
              <a:rPr dirty="0"/>
              <a:t>: </a:t>
            </a:r>
            <a:r>
              <a:rPr dirty="0" err="1"/>
              <a:t>Testar</a:t>
            </a:r>
            <a:r>
              <a:rPr dirty="0"/>
              <a:t> e </a:t>
            </a:r>
            <a:r>
              <a:rPr dirty="0" err="1"/>
              <a:t>questionar</a:t>
            </a:r>
            <a:r>
              <a:rPr dirty="0"/>
              <a:t> o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cedo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 (</a:t>
            </a:r>
            <a:r>
              <a:rPr dirty="0" err="1"/>
              <a:t>principalmente</a:t>
            </a:r>
            <a:r>
              <a:rPr dirty="0"/>
              <a:t> no </a:t>
            </a:r>
            <a:r>
              <a:rPr dirty="0" err="1"/>
              <a:t>refinamento</a:t>
            </a:r>
            <a:r>
              <a:rPr dirty="0" smtClean="0"/>
              <a:t>)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b="1" dirty="0" err="1"/>
              <a:t>Qualidade</a:t>
            </a:r>
            <a:r>
              <a:rPr b="1" dirty="0"/>
              <a:t> </a:t>
            </a:r>
            <a:r>
              <a:rPr b="1" dirty="0" err="1"/>
              <a:t>Compartilhada</a:t>
            </a:r>
            <a:r>
              <a:rPr dirty="0"/>
              <a:t>: QA </a:t>
            </a:r>
            <a:r>
              <a:rPr dirty="0" err="1"/>
              <a:t>facilita</a:t>
            </a:r>
            <a:r>
              <a:rPr dirty="0"/>
              <a:t> e </a:t>
            </a:r>
            <a:r>
              <a:rPr dirty="0" err="1"/>
              <a:t>valida</a:t>
            </a:r>
            <a:r>
              <a:rPr dirty="0"/>
              <a:t>; o time </a:t>
            </a:r>
            <a:r>
              <a:rPr dirty="0" err="1"/>
              <a:t>constrói</a:t>
            </a:r>
            <a:r>
              <a:rPr dirty="0"/>
              <a:t> </a:t>
            </a:r>
            <a:r>
              <a:rPr dirty="0" err="1" smtClean="0"/>
              <a:t>qualidade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b="1" dirty="0" err="1" smtClean="0"/>
              <a:t>Transparência</a:t>
            </a:r>
            <a:r>
              <a:rPr b="1" dirty="0"/>
              <a:t>: </a:t>
            </a:r>
            <a:r>
              <a:rPr dirty="0"/>
              <a:t>Status, </a:t>
            </a:r>
            <a:r>
              <a:rPr dirty="0" err="1"/>
              <a:t>riscos</a:t>
            </a:r>
            <a:r>
              <a:rPr dirty="0"/>
              <a:t>, </a:t>
            </a:r>
            <a:r>
              <a:rPr dirty="0" err="1"/>
              <a:t>evidências</a:t>
            </a:r>
            <a:r>
              <a:rPr dirty="0"/>
              <a:t> e bugs </a:t>
            </a:r>
            <a:r>
              <a:rPr dirty="0" err="1"/>
              <a:t>visíveis</a:t>
            </a:r>
            <a:r>
              <a:rPr dirty="0"/>
              <a:t> para o </a:t>
            </a:r>
            <a:r>
              <a:rPr dirty="0" smtClean="0"/>
              <a:t>time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b="1" dirty="0" err="1"/>
              <a:t>Reprodutibilidade</a:t>
            </a:r>
            <a:r>
              <a:rPr dirty="0"/>
              <a:t>: </a:t>
            </a:r>
            <a:r>
              <a:rPr dirty="0" err="1"/>
              <a:t>Todo</a:t>
            </a:r>
            <a:r>
              <a:rPr dirty="0"/>
              <a:t> bug com </a:t>
            </a:r>
            <a:r>
              <a:rPr dirty="0" err="1"/>
              <a:t>passos</a:t>
            </a:r>
            <a:r>
              <a:rPr dirty="0"/>
              <a:t> </a:t>
            </a:r>
            <a:r>
              <a:rPr dirty="0" err="1"/>
              <a:t>claros</a:t>
            </a:r>
            <a:r>
              <a:rPr dirty="0"/>
              <a:t>, </a:t>
            </a:r>
            <a:r>
              <a:rPr dirty="0" err="1"/>
              <a:t>evidência</a:t>
            </a:r>
            <a:r>
              <a:rPr dirty="0"/>
              <a:t> e </a:t>
            </a:r>
            <a:r>
              <a:rPr dirty="0" err="1"/>
              <a:t>rastreabilidade</a:t>
            </a:r>
            <a:r>
              <a:rPr dirty="0"/>
              <a:t> (CT/</a:t>
            </a:r>
            <a:r>
              <a:rPr dirty="0" err="1"/>
              <a:t>ciclo</a:t>
            </a:r>
            <a:r>
              <a:rPr dirty="0"/>
              <a:t>/release</a:t>
            </a:r>
            <a:r>
              <a:rPr dirty="0" smtClean="0"/>
              <a:t>)</a:t>
            </a:r>
            <a:r>
              <a:rPr lang="pt-BR" dirty="0" smtClean="0"/>
              <a:t>.</a:t>
            </a:r>
            <a:endParaRPr dirty="0"/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Responsabilidades por Fase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Atuação</a:t>
            </a:r>
            <a:r>
              <a:rPr dirty="0"/>
              <a:t> do QA no </a:t>
            </a:r>
            <a:r>
              <a:rPr dirty="0" err="1"/>
              <a:t>Ciclo</a:t>
            </a:r>
            <a:r>
              <a:rPr dirty="0"/>
              <a:t> de </a:t>
            </a:r>
            <a:r>
              <a:rPr dirty="0" err="1"/>
              <a:t>Desenvolvimento</a:t>
            </a:r>
            <a:endParaRPr dirty="0"/>
          </a:p>
          <a:p>
            <a:pPr lvl="1"/>
            <a:r>
              <a:rPr dirty="0" err="1"/>
              <a:t>Refinamento</a:t>
            </a:r>
            <a:r>
              <a:rPr dirty="0"/>
              <a:t>: </a:t>
            </a:r>
            <a:r>
              <a:rPr dirty="0" err="1"/>
              <a:t>Validar</a:t>
            </a:r>
            <a:r>
              <a:rPr dirty="0"/>
              <a:t> </a:t>
            </a:r>
            <a:r>
              <a:rPr dirty="0" err="1"/>
              <a:t>DoR</a:t>
            </a:r>
            <a:r>
              <a:rPr dirty="0"/>
              <a:t>, </a:t>
            </a:r>
            <a:r>
              <a:rPr dirty="0" err="1"/>
              <a:t>questionar</a:t>
            </a:r>
            <a:r>
              <a:rPr dirty="0"/>
              <a:t> </a:t>
            </a:r>
            <a:r>
              <a:rPr dirty="0" err="1"/>
              <a:t>critérios</a:t>
            </a:r>
            <a:r>
              <a:rPr dirty="0"/>
              <a:t> de </a:t>
            </a:r>
            <a:r>
              <a:rPr dirty="0" err="1"/>
              <a:t>aceite</a:t>
            </a:r>
            <a:r>
              <a:rPr dirty="0"/>
              <a:t>,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riscos</a:t>
            </a:r>
            <a:r>
              <a:rPr dirty="0"/>
              <a:t> e </a:t>
            </a:r>
            <a:r>
              <a:rPr dirty="0" err="1" smtClean="0"/>
              <a:t>dependências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dirty="0" err="1"/>
              <a:t>Planejamento</a:t>
            </a:r>
            <a:r>
              <a:rPr dirty="0"/>
              <a:t>: </a:t>
            </a:r>
            <a:r>
              <a:rPr dirty="0" err="1"/>
              <a:t>Levantar</a:t>
            </a:r>
            <a:r>
              <a:rPr dirty="0"/>
              <a:t> </a:t>
            </a:r>
            <a:r>
              <a:rPr dirty="0" err="1"/>
              <a:t>dúvidas</a:t>
            </a:r>
            <a:r>
              <a:rPr dirty="0"/>
              <a:t>, </a:t>
            </a:r>
            <a:r>
              <a:rPr dirty="0" err="1"/>
              <a:t>explicitar</a:t>
            </a:r>
            <a:r>
              <a:rPr dirty="0"/>
              <a:t> </a:t>
            </a:r>
            <a:r>
              <a:rPr dirty="0" err="1"/>
              <a:t>critérios</a:t>
            </a:r>
            <a:r>
              <a:rPr dirty="0"/>
              <a:t> </a:t>
            </a:r>
            <a:r>
              <a:rPr dirty="0" err="1"/>
              <a:t>testáveis</a:t>
            </a:r>
            <a:r>
              <a:rPr dirty="0"/>
              <a:t> e </a:t>
            </a:r>
            <a:r>
              <a:rPr dirty="0" err="1"/>
              <a:t>estimar</a:t>
            </a:r>
            <a:r>
              <a:rPr dirty="0"/>
              <a:t> </a:t>
            </a:r>
            <a:r>
              <a:rPr dirty="0" err="1"/>
              <a:t>esforço</a:t>
            </a:r>
            <a:r>
              <a:rPr dirty="0"/>
              <a:t> de </a:t>
            </a:r>
            <a:r>
              <a:rPr dirty="0" smtClean="0"/>
              <a:t>testes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dirty="0"/>
              <a:t>Durante </a:t>
            </a:r>
            <a:r>
              <a:rPr dirty="0" err="1"/>
              <a:t>Desenvolvimento</a:t>
            </a:r>
            <a:r>
              <a:rPr dirty="0"/>
              <a:t>: </a:t>
            </a:r>
            <a:r>
              <a:rPr dirty="0" err="1"/>
              <a:t>Acompanhar</a:t>
            </a:r>
            <a:r>
              <a:rPr dirty="0"/>
              <a:t> </a:t>
            </a:r>
            <a:r>
              <a:rPr dirty="0" err="1"/>
              <a:t>progresso</a:t>
            </a:r>
            <a:r>
              <a:rPr dirty="0"/>
              <a:t>, </a:t>
            </a:r>
            <a:r>
              <a:rPr dirty="0" err="1"/>
              <a:t>criar</a:t>
            </a:r>
            <a:r>
              <a:rPr dirty="0"/>
              <a:t>/</a:t>
            </a:r>
            <a:r>
              <a:rPr dirty="0" err="1"/>
              <a:t>atualizar</a:t>
            </a:r>
            <a:r>
              <a:rPr dirty="0"/>
              <a:t> </a:t>
            </a:r>
            <a:r>
              <a:rPr dirty="0" err="1"/>
              <a:t>casos</a:t>
            </a:r>
            <a:r>
              <a:rPr dirty="0"/>
              <a:t> de teste, </a:t>
            </a:r>
            <a:r>
              <a:rPr dirty="0" err="1"/>
              <a:t>preparar</a:t>
            </a:r>
            <a:r>
              <a:rPr dirty="0"/>
              <a:t> </a:t>
            </a:r>
            <a:r>
              <a:rPr dirty="0" err="1"/>
              <a:t>massa</a:t>
            </a:r>
            <a:r>
              <a:rPr dirty="0"/>
              <a:t> de </a:t>
            </a:r>
            <a:r>
              <a:rPr dirty="0" smtClean="0"/>
              <a:t>dados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dirty="0" err="1"/>
              <a:t>Fase</a:t>
            </a:r>
            <a:r>
              <a:rPr dirty="0"/>
              <a:t> de Testes: </a:t>
            </a:r>
            <a:r>
              <a:rPr dirty="0" err="1"/>
              <a:t>Executar</a:t>
            </a:r>
            <a:r>
              <a:rPr dirty="0"/>
              <a:t> testes </a:t>
            </a:r>
            <a:r>
              <a:rPr dirty="0" err="1"/>
              <a:t>funcionais</a:t>
            </a:r>
            <a:r>
              <a:rPr dirty="0"/>
              <a:t>, </a:t>
            </a:r>
            <a:r>
              <a:rPr dirty="0" err="1"/>
              <a:t>regressão</a:t>
            </a:r>
            <a:r>
              <a:rPr dirty="0"/>
              <a:t>, </a:t>
            </a:r>
            <a:r>
              <a:rPr dirty="0" err="1"/>
              <a:t>integração</a:t>
            </a:r>
            <a:r>
              <a:rPr dirty="0"/>
              <a:t>, </a:t>
            </a:r>
            <a:r>
              <a:rPr dirty="0" err="1"/>
              <a:t>responsividade</a:t>
            </a:r>
            <a:r>
              <a:rPr dirty="0"/>
              <a:t> e </a:t>
            </a:r>
            <a:r>
              <a:rPr dirty="0" err="1" smtClean="0"/>
              <a:t>segurança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dirty="0" err="1"/>
              <a:t>Homologação</a:t>
            </a:r>
            <a:r>
              <a:rPr dirty="0"/>
              <a:t> e Deploy: </a:t>
            </a:r>
            <a:r>
              <a:rPr dirty="0" err="1"/>
              <a:t>Validar</a:t>
            </a:r>
            <a:r>
              <a:rPr dirty="0"/>
              <a:t> deploy, </a:t>
            </a:r>
            <a:r>
              <a:rPr dirty="0" err="1"/>
              <a:t>executar</a:t>
            </a:r>
            <a:r>
              <a:rPr dirty="0"/>
              <a:t> smoke tests, </a:t>
            </a:r>
            <a:r>
              <a:rPr dirty="0" err="1"/>
              <a:t>apoiar</a:t>
            </a:r>
            <a:r>
              <a:rPr dirty="0"/>
              <a:t> </a:t>
            </a:r>
            <a:r>
              <a:rPr dirty="0" err="1"/>
              <a:t>decisão</a:t>
            </a:r>
            <a:r>
              <a:rPr dirty="0"/>
              <a:t> de </a:t>
            </a:r>
            <a:r>
              <a:rPr dirty="0" smtClean="0"/>
              <a:t>go/no-go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dirty="0" err="1"/>
              <a:t>Pós</a:t>
            </a:r>
            <a:r>
              <a:rPr dirty="0"/>
              <a:t>-Deploy: </a:t>
            </a:r>
            <a:r>
              <a:rPr dirty="0" err="1"/>
              <a:t>Apoiar</a:t>
            </a:r>
            <a:r>
              <a:rPr dirty="0"/>
              <a:t> </a:t>
            </a:r>
            <a:r>
              <a:rPr dirty="0" err="1"/>
              <a:t>validação</a:t>
            </a:r>
            <a:r>
              <a:rPr dirty="0"/>
              <a:t> de hotfixes, </a:t>
            </a:r>
            <a:r>
              <a:rPr dirty="0" err="1"/>
              <a:t>triagem</a:t>
            </a:r>
            <a:r>
              <a:rPr dirty="0"/>
              <a:t> de </a:t>
            </a:r>
            <a:r>
              <a:rPr dirty="0" err="1"/>
              <a:t>incidentes</a:t>
            </a:r>
            <a:r>
              <a:rPr dirty="0"/>
              <a:t> e </a:t>
            </a:r>
            <a:r>
              <a:rPr dirty="0" err="1"/>
              <a:t>coleta</a:t>
            </a:r>
            <a:r>
              <a:rPr dirty="0"/>
              <a:t> de </a:t>
            </a:r>
            <a:r>
              <a:rPr dirty="0" smtClean="0"/>
              <a:t>feedback</a:t>
            </a:r>
            <a:r>
              <a:rPr lang="pt-BR" dirty="0" smtClean="0"/>
              <a:t>;</a:t>
            </a:r>
            <a:endParaRPr dirty="0"/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Processos Implementados - DoR/DoD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 of Ready (DoR) - Padrão de Entrada</a:t>
            </a:r>
          </a:p>
          <a:p>
            <a:pPr lvl="1"/>
            <a:r>
              <a:t>Formato Padrão: Como [persona] / Quero [funcionalidade] / Para que [valor de negócio]</a:t>
            </a:r>
          </a:p>
          <a:p>
            <a:pPr lvl="1"/>
            <a:r>
              <a:t>Critérios de Aceite: Testáveis e claros (formato Gherkin quando complexo)</a:t>
            </a:r>
          </a:p>
          <a:p>
            <a:pPr lvl="1"/>
            <a:r>
              <a:t>Dependências Técnicas: APIs, bibliotecas, cards relacionados identificados</a:t>
            </a:r>
          </a:p>
          <a:p>
            <a:pPr lvl="1"/>
            <a:r>
              <a:t>Checklist de Ready: História no formato padrão, critérios testáveis, dependências mapeadas, prioridade definida, anexos disponíveis</a:t>
            </a:r>
          </a:p>
          <a:p>
            <a:pPr lvl="1"/>
            <a:r>
              <a:t>Benefício: Evita retrabalho e garante que histórias cheguem ao desenvolvimento prontas para execução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Gestão de Bugs e Sub-bugs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Classificação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Ambiente</a:t>
            </a:r>
            <a:r>
              <a:rPr dirty="0"/>
              <a:t> e </a:t>
            </a:r>
            <a:r>
              <a:rPr dirty="0" err="1"/>
              <a:t>Governança</a:t>
            </a:r>
            <a:endParaRPr dirty="0"/>
          </a:p>
          <a:p>
            <a:pPr lvl="1"/>
            <a:r>
              <a:rPr b="1" dirty="0"/>
              <a:t>Sub-bug: </a:t>
            </a:r>
            <a:r>
              <a:rPr dirty="0" err="1"/>
              <a:t>Falhas</a:t>
            </a:r>
            <a:r>
              <a:rPr dirty="0"/>
              <a:t> </a:t>
            </a:r>
            <a:r>
              <a:rPr dirty="0" err="1"/>
              <a:t>encontradas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Dev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Homologação</a:t>
            </a:r>
            <a:r>
              <a:rPr dirty="0"/>
              <a:t> (</a:t>
            </a:r>
            <a:r>
              <a:rPr dirty="0" err="1"/>
              <a:t>durante</a:t>
            </a:r>
            <a:r>
              <a:rPr dirty="0"/>
              <a:t> </a:t>
            </a:r>
            <a:r>
              <a:rPr dirty="0" err="1"/>
              <a:t>ciclo</a:t>
            </a:r>
            <a:r>
              <a:rPr dirty="0"/>
              <a:t> de </a:t>
            </a:r>
            <a:r>
              <a:rPr dirty="0" err="1"/>
              <a:t>desenvolvimento</a:t>
            </a:r>
            <a:r>
              <a:rPr dirty="0"/>
              <a:t>)</a:t>
            </a:r>
          </a:p>
          <a:p>
            <a:pPr lvl="1"/>
            <a:r>
              <a:rPr b="1" dirty="0"/>
              <a:t>Bug</a:t>
            </a:r>
            <a:r>
              <a:rPr dirty="0"/>
              <a:t>: </a:t>
            </a:r>
            <a:r>
              <a:rPr dirty="0" err="1"/>
              <a:t>Falhas</a:t>
            </a:r>
            <a:r>
              <a:rPr dirty="0"/>
              <a:t> </a:t>
            </a:r>
            <a:r>
              <a:rPr dirty="0" err="1"/>
              <a:t>encontradas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Produção</a:t>
            </a:r>
            <a:r>
              <a:rPr dirty="0"/>
              <a:t> (</a:t>
            </a:r>
            <a:r>
              <a:rPr dirty="0" err="1"/>
              <a:t>pós</a:t>
            </a:r>
            <a:r>
              <a:rPr dirty="0"/>
              <a:t>-deploy / escape)</a:t>
            </a:r>
          </a:p>
          <a:p>
            <a:pPr lvl="1"/>
            <a:r>
              <a:rPr b="1" dirty="0" err="1"/>
              <a:t>Rastreabilidade</a:t>
            </a:r>
            <a:r>
              <a:rPr b="1" dirty="0"/>
              <a:t> </a:t>
            </a:r>
            <a:r>
              <a:rPr b="1" dirty="0" err="1"/>
              <a:t>Obrigatória</a:t>
            </a:r>
            <a:r>
              <a:rPr dirty="0"/>
              <a:t>: </a:t>
            </a:r>
            <a:r>
              <a:rPr dirty="0" err="1"/>
              <a:t>Todo</a:t>
            </a:r>
            <a:r>
              <a:rPr dirty="0"/>
              <a:t> bug </a:t>
            </a:r>
            <a:r>
              <a:rPr dirty="0" err="1"/>
              <a:t>associado</a:t>
            </a:r>
            <a:r>
              <a:rPr dirty="0"/>
              <a:t> a </a:t>
            </a:r>
            <a:r>
              <a:rPr dirty="0" err="1"/>
              <a:t>Ciclo</a:t>
            </a:r>
            <a:r>
              <a:rPr dirty="0"/>
              <a:t>/Release e,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,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Caso</a:t>
            </a:r>
            <a:r>
              <a:rPr dirty="0"/>
              <a:t> de Teste</a:t>
            </a:r>
          </a:p>
          <a:p>
            <a:pPr lvl="1"/>
            <a:r>
              <a:rPr b="1" dirty="0" err="1"/>
              <a:t>Urgência</a:t>
            </a:r>
            <a:r>
              <a:rPr b="1" dirty="0"/>
              <a:t> </a:t>
            </a:r>
            <a:r>
              <a:rPr b="1" dirty="0" err="1"/>
              <a:t>Máxima</a:t>
            </a:r>
            <a:r>
              <a:rPr dirty="0"/>
              <a:t>: Bugs </a:t>
            </a:r>
            <a:r>
              <a:rPr dirty="0" err="1"/>
              <a:t>bloqueadores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hotfixes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prioridade</a:t>
            </a:r>
            <a:r>
              <a:rPr dirty="0"/>
              <a:t> </a:t>
            </a:r>
            <a:r>
              <a:rPr dirty="0" err="1"/>
              <a:t>absoluta</a:t>
            </a:r>
            <a:r>
              <a:rPr dirty="0"/>
              <a:t> com </a:t>
            </a:r>
            <a:r>
              <a:rPr dirty="0" err="1"/>
              <a:t>comunicação</a:t>
            </a:r>
            <a:r>
              <a:rPr dirty="0"/>
              <a:t> </a:t>
            </a:r>
            <a:r>
              <a:rPr dirty="0" err="1"/>
              <a:t>imediata</a:t>
            </a:r>
            <a:endParaRPr dirty="0"/>
          </a:p>
          <a:p>
            <a:pPr lvl="1"/>
            <a:r>
              <a:rPr b="1" dirty="0" err="1"/>
              <a:t>Gestão</a:t>
            </a:r>
            <a:r>
              <a:rPr b="1" dirty="0"/>
              <a:t> de SLA</a:t>
            </a:r>
            <a:r>
              <a:rPr dirty="0"/>
              <a:t>: </a:t>
            </a:r>
            <a:r>
              <a:rPr dirty="0" err="1"/>
              <a:t>Monitoramento</a:t>
            </a:r>
            <a:r>
              <a:rPr dirty="0"/>
              <a:t> via Dashboard para </a:t>
            </a:r>
            <a:r>
              <a:rPr dirty="0" err="1"/>
              <a:t>evitar</a:t>
            </a:r>
            <a:r>
              <a:rPr dirty="0"/>
              <a:t> tickets </a:t>
            </a:r>
            <a:r>
              <a:rPr dirty="0" err="1"/>
              <a:t>parados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estados</a:t>
            </a:r>
            <a:r>
              <a:rPr dirty="0"/>
              <a:t> </a:t>
            </a:r>
            <a:r>
              <a:rPr dirty="0" err="1"/>
              <a:t>intermediários</a:t>
            </a:r>
            <a:endParaRPr dirty="0"/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Bugs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err="1"/>
              <a:t>Taxonomia</a:t>
            </a:r>
            <a:r>
              <a:rPr dirty="0"/>
              <a:t> para </a:t>
            </a:r>
            <a:r>
              <a:rPr dirty="0" err="1"/>
              <a:t>Rastreabilidade</a:t>
            </a:r>
            <a:r>
              <a:rPr dirty="0"/>
              <a:t> e </a:t>
            </a:r>
            <a:r>
              <a:rPr dirty="0" err="1"/>
              <a:t>Direcionamento</a:t>
            </a:r>
            <a:endParaRPr dirty="0"/>
          </a:p>
          <a:p>
            <a:pPr lvl="1"/>
            <a:r>
              <a:rPr b="1" dirty="0" err="1"/>
              <a:t>Funcional</a:t>
            </a:r>
            <a:r>
              <a:rPr dirty="0"/>
              <a:t>: </a:t>
            </a:r>
            <a:r>
              <a:rPr dirty="0" err="1"/>
              <a:t>Desvio</a:t>
            </a:r>
            <a:r>
              <a:rPr dirty="0"/>
              <a:t> de </a:t>
            </a: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negócio</a:t>
            </a:r>
            <a:r>
              <a:rPr dirty="0"/>
              <a:t> (</a:t>
            </a:r>
            <a:r>
              <a:rPr dirty="0" err="1"/>
              <a:t>foco</a:t>
            </a:r>
            <a:r>
              <a:rPr dirty="0"/>
              <a:t>: PO e </a:t>
            </a:r>
            <a:r>
              <a:rPr dirty="0" err="1" smtClean="0"/>
              <a:t>Devs</a:t>
            </a:r>
            <a:r>
              <a:rPr dirty="0" smtClean="0"/>
              <a:t>)</a:t>
            </a:r>
            <a:endParaRPr dirty="0"/>
          </a:p>
          <a:p>
            <a:pPr lvl="1"/>
            <a:r>
              <a:rPr b="1" dirty="0"/>
              <a:t>Interface/UI</a:t>
            </a:r>
            <a:r>
              <a:rPr dirty="0"/>
              <a:t>: </a:t>
            </a:r>
            <a:r>
              <a:rPr dirty="0" err="1"/>
              <a:t>Problemas</a:t>
            </a:r>
            <a:r>
              <a:rPr dirty="0"/>
              <a:t> de layout, design, </a:t>
            </a:r>
            <a:r>
              <a:rPr dirty="0" err="1"/>
              <a:t>textos</a:t>
            </a:r>
            <a:r>
              <a:rPr dirty="0"/>
              <a:t> e </a:t>
            </a:r>
            <a:r>
              <a:rPr dirty="0" err="1"/>
              <a:t>responsividade</a:t>
            </a:r>
            <a:r>
              <a:rPr dirty="0"/>
              <a:t> (</a:t>
            </a:r>
            <a:r>
              <a:rPr dirty="0" err="1"/>
              <a:t>foco</a:t>
            </a:r>
            <a:r>
              <a:rPr dirty="0"/>
              <a:t>: Frontend e Designers)</a:t>
            </a:r>
          </a:p>
          <a:p>
            <a:pPr lvl="1"/>
            <a:r>
              <a:rPr b="1" dirty="0" err="1"/>
              <a:t>Integração</a:t>
            </a:r>
            <a:r>
              <a:rPr b="1" dirty="0"/>
              <a:t>/API</a:t>
            </a:r>
            <a:r>
              <a:rPr dirty="0"/>
              <a:t>: </a:t>
            </a:r>
            <a:r>
              <a:rPr dirty="0" err="1"/>
              <a:t>Falhas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troca</a:t>
            </a:r>
            <a:r>
              <a:rPr dirty="0"/>
              <a:t> de dados entre </a:t>
            </a:r>
            <a:r>
              <a:rPr dirty="0" err="1"/>
              <a:t>sistemas</a:t>
            </a:r>
            <a:r>
              <a:rPr dirty="0"/>
              <a:t> e </a:t>
            </a:r>
            <a:r>
              <a:rPr dirty="0" err="1"/>
              <a:t>microsserviços</a:t>
            </a:r>
            <a:r>
              <a:rPr dirty="0"/>
              <a:t> (</a:t>
            </a:r>
            <a:r>
              <a:rPr dirty="0" err="1"/>
              <a:t>foco</a:t>
            </a:r>
            <a:r>
              <a:rPr dirty="0"/>
              <a:t>: Backend e </a:t>
            </a:r>
            <a:r>
              <a:rPr dirty="0" err="1"/>
              <a:t>Integradores</a:t>
            </a:r>
            <a:r>
              <a:rPr dirty="0"/>
              <a:t>)</a:t>
            </a:r>
          </a:p>
          <a:p>
            <a:pPr lvl="1"/>
            <a:r>
              <a:rPr b="1" dirty="0"/>
              <a:t>Dados</a:t>
            </a:r>
            <a:r>
              <a:rPr dirty="0"/>
              <a:t>: </a:t>
            </a:r>
            <a:r>
              <a:rPr dirty="0" err="1"/>
              <a:t>Problemas</a:t>
            </a:r>
            <a:r>
              <a:rPr dirty="0"/>
              <a:t> de </a:t>
            </a:r>
            <a:r>
              <a:rPr dirty="0" err="1"/>
              <a:t>persistência</a:t>
            </a:r>
            <a:r>
              <a:rPr dirty="0"/>
              <a:t> e </a:t>
            </a:r>
            <a:r>
              <a:rPr dirty="0" err="1"/>
              <a:t>integridade</a:t>
            </a:r>
            <a:r>
              <a:rPr dirty="0"/>
              <a:t> no banco (</a:t>
            </a:r>
            <a:r>
              <a:rPr dirty="0" err="1"/>
              <a:t>foco</a:t>
            </a:r>
            <a:r>
              <a:rPr dirty="0"/>
              <a:t>: DBAs e Backend)</a:t>
            </a:r>
          </a:p>
          <a:p>
            <a:pPr lvl="1"/>
            <a:r>
              <a:rPr b="1" dirty="0" err="1"/>
              <a:t>Segurança</a:t>
            </a:r>
            <a:r>
              <a:rPr dirty="0"/>
              <a:t>: </a:t>
            </a:r>
            <a:r>
              <a:rPr dirty="0" err="1"/>
              <a:t>Vulnerabilidades</a:t>
            </a:r>
            <a:r>
              <a:rPr dirty="0"/>
              <a:t> e </a:t>
            </a:r>
            <a:r>
              <a:rPr dirty="0" err="1"/>
              <a:t>acessos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autorizados</a:t>
            </a:r>
            <a:r>
              <a:rPr dirty="0"/>
              <a:t> - OWASP (</a:t>
            </a:r>
            <a:r>
              <a:rPr dirty="0" err="1"/>
              <a:t>foco</a:t>
            </a:r>
            <a:r>
              <a:rPr dirty="0"/>
              <a:t>: </a:t>
            </a:r>
            <a:r>
              <a:rPr dirty="0" err="1"/>
              <a:t>DevSecOps</a:t>
            </a:r>
            <a:r>
              <a:rPr dirty="0"/>
              <a:t> e QA)</a:t>
            </a:r>
          </a:p>
          <a:p>
            <a:pPr lvl="1"/>
            <a:r>
              <a:rPr b="1" dirty="0"/>
              <a:t>Performance</a:t>
            </a:r>
            <a:r>
              <a:rPr dirty="0"/>
              <a:t>: </a:t>
            </a:r>
            <a:r>
              <a:rPr dirty="0" err="1"/>
              <a:t>Lentidão</a:t>
            </a:r>
            <a:r>
              <a:rPr dirty="0"/>
              <a:t>, </a:t>
            </a:r>
            <a:r>
              <a:rPr dirty="0" err="1"/>
              <a:t>travamentos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excessivo</a:t>
            </a:r>
            <a:r>
              <a:rPr dirty="0"/>
              <a:t> de </a:t>
            </a:r>
            <a:r>
              <a:rPr dirty="0" err="1"/>
              <a:t>recursos</a:t>
            </a:r>
            <a:r>
              <a:rPr dirty="0"/>
              <a:t> (</a:t>
            </a:r>
            <a:r>
              <a:rPr dirty="0" err="1"/>
              <a:t>foco</a:t>
            </a:r>
            <a:r>
              <a:rPr dirty="0"/>
              <a:t>: Backend e Infra)</a:t>
            </a:r>
          </a:p>
          <a:p>
            <a:pPr lvl="1"/>
            <a:r>
              <a:rPr b="1" dirty="0" err="1"/>
              <a:t>Ambiente</a:t>
            </a:r>
            <a:r>
              <a:rPr b="1" dirty="0"/>
              <a:t>/</a:t>
            </a:r>
            <a:r>
              <a:rPr b="1" dirty="0" err="1"/>
              <a:t>Configuração</a:t>
            </a:r>
            <a:r>
              <a:rPr dirty="0"/>
              <a:t>: </a:t>
            </a:r>
            <a:r>
              <a:rPr dirty="0" err="1"/>
              <a:t>Erros</a:t>
            </a:r>
            <a:r>
              <a:rPr dirty="0"/>
              <a:t> de </a:t>
            </a:r>
            <a:r>
              <a:rPr dirty="0" err="1"/>
              <a:t>variáveis</a:t>
            </a:r>
            <a:r>
              <a:rPr dirty="0"/>
              <a:t>, </a:t>
            </a:r>
            <a:r>
              <a:rPr dirty="0" err="1"/>
              <a:t>permissões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pipeline de deploy (</a:t>
            </a:r>
            <a:r>
              <a:rPr dirty="0" err="1"/>
              <a:t>foco</a:t>
            </a:r>
            <a:r>
              <a:rPr dirty="0"/>
              <a:t>: DevOps/Infra)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Severidade vs Prioridade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b="1" dirty="0" err="1"/>
              <a:t>Severidade</a:t>
            </a:r>
            <a:r>
              <a:rPr b="1" dirty="0"/>
              <a:t> (QA - </a:t>
            </a:r>
            <a:r>
              <a:rPr b="1" dirty="0" err="1"/>
              <a:t>Impacto</a:t>
            </a:r>
            <a:r>
              <a:rPr b="1" dirty="0"/>
              <a:t> </a:t>
            </a:r>
            <a:r>
              <a:rPr b="1" dirty="0" err="1"/>
              <a:t>Técnico</a:t>
            </a:r>
            <a:r>
              <a:rPr b="1" dirty="0"/>
              <a:t>)</a:t>
            </a:r>
          </a:p>
          <a:p>
            <a:pPr lvl="1"/>
            <a:r>
              <a:rPr dirty="0"/>
              <a:t>S1 - </a:t>
            </a:r>
            <a:r>
              <a:rPr dirty="0" err="1"/>
              <a:t>Bloqueador</a:t>
            </a:r>
            <a:r>
              <a:rPr dirty="0"/>
              <a:t>: Sistema </a:t>
            </a:r>
            <a:r>
              <a:rPr dirty="0" err="1"/>
              <a:t>inacessível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funcionalidade</a:t>
            </a:r>
            <a:r>
              <a:rPr dirty="0"/>
              <a:t> vital </a:t>
            </a:r>
            <a:r>
              <a:rPr dirty="0" err="1"/>
              <a:t>interrompida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workaround</a:t>
            </a:r>
          </a:p>
          <a:p>
            <a:pPr lvl="1"/>
            <a:r>
              <a:rPr dirty="0"/>
              <a:t>S2 - </a:t>
            </a:r>
            <a:r>
              <a:rPr dirty="0" err="1"/>
              <a:t>Crítico</a:t>
            </a:r>
            <a:r>
              <a:rPr dirty="0"/>
              <a:t>: </a:t>
            </a:r>
            <a:r>
              <a:rPr dirty="0" err="1"/>
              <a:t>Falha</a:t>
            </a:r>
            <a:r>
              <a:rPr dirty="0"/>
              <a:t> grave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negócio</a:t>
            </a:r>
            <a:r>
              <a:rPr dirty="0"/>
              <a:t> principal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perda</a:t>
            </a:r>
            <a:r>
              <a:rPr dirty="0"/>
              <a:t> de dados</a:t>
            </a:r>
          </a:p>
          <a:p>
            <a:pPr lvl="1"/>
            <a:r>
              <a:rPr dirty="0"/>
              <a:t>S3 - Major: </a:t>
            </a:r>
            <a:r>
              <a:rPr dirty="0" err="1"/>
              <a:t>Falha</a:t>
            </a:r>
            <a:r>
              <a:rPr dirty="0"/>
              <a:t> </a:t>
            </a:r>
            <a:r>
              <a:rPr dirty="0" err="1"/>
              <a:t>importante</a:t>
            </a:r>
            <a:r>
              <a:rPr dirty="0"/>
              <a:t> mas com workaround manual </a:t>
            </a:r>
            <a:r>
              <a:rPr dirty="0" err="1"/>
              <a:t>possível</a:t>
            </a:r>
            <a:endParaRPr dirty="0"/>
          </a:p>
          <a:p>
            <a:pPr lvl="1"/>
            <a:r>
              <a:rPr dirty="0"/>
              <a:t>S4 - Minor: </a:t>
            </a:r>
            <a:r>
              <a:rPr dirty="0" err="1"/>
              <a:t>Erros</a:t>
            </a:r>
            <a:r>
              <a:rPr dirty="0"/>
              <a:t> de UI, </a:t>
            </a:r>
            <a:r>
              <a:rPr dirty="0" err="1"/>
              <a:t>ortografia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mensagens</a:t>
            </a:r>
            <a:r>
              <a:rPr dirty="0"/>
              <a:t> </a:t>
            </a:r>
            <a:r>
              <a:rPr dirty="0" err="1"/>
              <a:t>confusas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b="1" dirty="0" err="1"/>
              <a:t>Prioridade</a:t>
            </a:r>
            <a:r>
              <a:rPr b="1" dirty="0"/>
              <a:t> (PO - </a:t>
            </a:r>
            <a:r>
              <a:rPr b="1" dirty="0" err="1"/>
              <a:t>Urgência</a:t>
            </a:r>
            <a:r>
              <a:rPr b="1" dirty="0"/>
              <a:t> de </a:t>
            </a:r>
            <a:r>
              <a:rPr b="1" dirty="0" err="1"/>
              <a:t>Negócio</a:t>
            </a:r>
            <a:r>
              <a:rPr b="1" dirty="0"/>
              <a:t>)</a:t>
            </a:r>
          </a:p>
          <a:p>
            <a:pPr lvl="1"/>
            <a:r>
              <a:rPr dirty="0"/>
              <a:t>P0 - </a:t>
            </a:r>
            <a:r>
              <a:rPr dirty="0" err="1"/>
              <a:t>Urgente</a:t>
            </a:r>
            <a:r>
              <a:rPr dirty="0"/>
              <a:t>: </a:t>
            </a:r>
            <a:r>
              <a:rPr dirty="0" err="1"/>
              <a:t>Correção</a:t>
            </a:r>
            <a:r>
              <a:rPr dirty="0"/>
              <a:t> </a:t>
            </a:r>
            <a:r>
              <a:rPr dirty="0" err="1"/>
              <a:t>imediata</a:t>
            </a:r>
            <a:r>
              <a:rPr dirty="0"/>
              <a:t> (Hotfix no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dia</a:t>
            </a:r>
            <a:r>
              <a:rPr dirty="0"/>
              <a:t>)</a:t>
            </a:r>
          </a:p>
          <a:p>
            <a:pPr lvl="1"/>
            <a:r>
              <a:rPr dirty="0"/>
              <a:t>P1 - Alta: </a:t>
            </a:r>
            <a:r>
              <a:rPr dirty="0" err="1"/>
              <a:t>Correção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Sprint </a:t>
            </a:r>
            <a:r>
              <a:rPr dirty="0" err="1"/>
              <a:t>atual</a:t>
            </a:r>
            <a:r>
              <a:rPr dirty="0"/>
              <a:t> (antes do cut-off)</a:t>
            </a:r>
          </a:p>
          <a:p>
            <a:pPr lvl="1"/>
            <a:r>
              <a:rPr dirty="0"/>
              <a:t>P2 - </a:t>
            </a:r>
            <a:r>
              <a:rPr dirty="0" err="1"/>
              <a:t>Média</a:t>
            </a:r>
            <a:r>
              <a:rPr dirty="0"/>
              <a:t>/</a:t>
            </a:r>
            <a:r>
              <a:rPr dirty="0" err="1"/>
              <a:t>Baixa</a:t>
            </a:r>
            <a:r>
              <a:rPr dirty="0"/>
              <a:t>: </a:t>
            </a:r>
            <a:r>
              <a:rPr dirty="0" err="1"/>
              <a:t>Correção</a:t>
            </a:r>
            <a:r>
              <a:rPr dirty="0"/>
              <a:t> </a:t>
            </a:r>
            <a:r>
              <a:rPr dirty="0" err="1"/>
              <a:t>planejada</a:t>
            </a:r>
            <a:r>
              <a:rPr dirty="0"/>
              <a:t> (Backlog para </a:t>
            </a:r>
            <a:r>
              <a:rPr dirty="0" err="1"/>
              <a:t>próximas</a:t>
            </a:r>
            <a:r>
              <a:rPr dirty="0"/>
              <a:t> Sprints)</a:t>
            </a:r>
          </a:p>
          <a:p>
            <a:pPr lvl="1"/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Ouro</a:t>
            </a:r>
            <a:r>
              <a:rPr dirty="0"/>
              <a:t>: </a:t>
            </a:r>
            <a:r>
              <a:rPr dirty="0" err="1"/>
              <a:t>Nenhuma</a:t>
            </a:r>
            <a:r>
              <a:rPr dirty="0"/>
              <a:t> release </a:t>
            </a:r>
            <a:r>
              <a:rPr dirty="0" err="1"/>
              <a:t>aprovada</a:t>
            </a:r>
            <a:r>
              <a:rPr dirty="0"/>
              <a:t> para </a:t>
            </a:r>
            <a:r>
              <a:rPr dirty="0" err="1"/>
              <a:t>Produção</a:t>
            </a:r>
            <a:r>
              <a:rPr dirty="0"/>
              <a:t> com bugs S1/S2 </a:t>
            </a:r>
            <a:r>
              <a:rPr dirty="0" err="1"/>
              <a:t>ou</a:t>
            </a:r>
            <a:r>
              <a:rPr dirty="0"/>
              <a:t> P0/P1 </a:t>
            </a:r>
            <a:r>
              <a:rPr dirty="0" err="1"/>
              <a:t>abertos</a:t>
            </a:r>
            <a:endParaRPr dirty="0"/>
          </a:p>
        </p:txBody>
      </p:sp>
      <p:pic>
        <p:nvPicPr>
          <p:cNvPr id="5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de Qualidade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5 </a:t>
            </a:r>
            <a:r>
              <a:rPr dirty="0" err="1"/>
              <a:t>Indicadores</a:t>
            </a:r>
            <a:r>
              <a:rPr dirty="0"/>
              <a:t> </a:t>
            </a:r>
            <a:r>
              <a:rPr dirty="0" err="1"/>
              <a:t>Iniciais</a:t>
            </a:r>
            <a:r>
              <a:rPr dirty="0"/>
              <a:t> para Baseline (Sprint 30+)</a:t>
            </a:r>
          </a:p>
          <a:p>
            <a:pPr lvl="1"/>
            <a:r>
              <a:rPr b="1" dirty="0"/>
              <a:t>Escape Rate: </a:t>
            </a:r>
            <a:r>
              <a:rPr dirty="0" err="1"/>
              <a:t>Quantidade</a:t>
            </a:r>
            <a:r>
              <a:rPr dirty="0"/>
              <a:t> de Bugs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Produção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sprint/release (</a:t>
            </a:r>
            <a:r>
              <a:rPr dirty="0" err="1"/>
              <a:t>mede</a:t>
            </a:r>
            <a:r>
              <a:rPr dirty="0"/>
              <a:t> </a:t>
            </a:r>
            <a:r>
              <a:rPr dirty="0" err="1"/>
              <a:t>eficácia</a:t>
            </a:r>
            <a:r>
              <a:rPr dirty="0"/>
              <a:t> e </a:t>
            </a:r>
            <a:r>
              <a:rPr dirty="0" err="1"/>
              <a:t>risco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)</a:t>
            </a:r>
          </a:p>
          <a:p>
            <a:pPr lvl="1"/>
            <a:r>
              <a:rPr b="1" dirty="0" err="1"/>
              <a:t>Densidade</a:t>
            </a:r>
            <a:r>
              <a:rPr b="1" dirty="0"/>
              <a:t> de Sub-bugs</a:t>
            </a:r>
            <a:r>
              <a:rPr dirty="0"/>
              <a:t>: </a:t>
            </a:r>
            <a:r>
              <a:rPr dirty="0" err="1"/>
              <a:t>Quantidade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sprint e </a:t>
            </a:r>
            <a:r>
              <a:rPr dirty="0" err="1"/>
              <a:t>módulo</a:t>
            </a:r>
            <a:r>
              <a:rPr dirty="0"/>
              <a:t> (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áreas</a:t>
            </a:r>
            <a:r>
              <a:rPr dirty="0"/>
              <a:t> </a:t>
            </a:r>
            <a:r>
              <a:rPr dirty="0" err="1"/>
              <a:t>instáveis</a:t>
            </a:r>
            <a:r>
              <a:rPr dirty="0"/>
              <a:t>)</a:t>
            </a:r>
          </a:p>
          <a:p>
            <a:pPr lvl="1"/>
            <a:r>
              <a:rPr b="1" dirty="0"/>
              <a:t>Lead Time de </a:t>
            </a:r>
            <a:r>
              <a:rPr b="1" dirty="0" err="1"/>
              <a:t>Correção</a:t>
            </a:r>
            <a:r>
              <a:rPr dirty="0"/>
              <a:t>: Tempo entre </a:t>
            </a:r>
            <a:r>
              <a:rPr dirty="0" err="1"/>
              <a:t>abertura</a:t>
            </a:r>
            <a:r>
              <a:rPr dirty="0"/>
              <a:t> e </a:t>
            </a:r>
            <a:r>
              <a:rPr dirty="0" err="1"/>
              <a:t>fechamento</a:t>
            </a:r>
            <a:r>
              <a:rPr dirty="0"/>
              <a:t> de Sub-bugs (</a:t>
            </a:r>
            <a:r>
              <a:rPr dirty="0" err="1"/>
              <a:t>mostra</a:t>
            </a:r>
            <a:r>
              <a:rPr dirty="0"/>
              <a:t> </a:t>
            </a:r>
            <a:r>
              <a:rPr dirty="0" err="1"/>
              <a:t>velocidade</a:t>
            </a:r>
            <a:r>
              <a:rPr dirty="0"/>
              <a:t> de </a:t>
            </a:r>
            <a:r>
              <a:rPr dirty="0" err="1"/>
              <a:t>remoção</a:t>
            </a:r>
            <a:r>
              <a:rPr dirty="0"/>
              <a:t> de </a:t>
            </a:r>
            <a:r>
              <a:rPr dirty="0" err="1"/>
              <a:t>impedimentos</a:t>
            </a:r>
            <a:r>
              <a:rPr dirty="0"/>
              <a:t>)</a:t>
            </a:r>
          </a:p>
          <a:p>
            <a:pPr lvl="1"/>
            <a:r>
              <a:rPr b="1" dirty="0"/>
              <a:t>Taxa de </a:t>
            </a:r>
            <a:r>
              <a:rPr b="1" dirty="0" err="1"/>
              <a:t>Reabertura</a:t>
            </a:r>
            <a:r>
              <a:rPr dirty="0"/>
              <a:t>: </a:t>
            </a:r>
            <a:r>
              <a:rPr dirty="0" err="1"/>
              <a:t>Percentual</a:t>
            </a:r>
            <a:r>
              <a:rPr dirty="0"/>
              <a:t> de Sub-bugs </a:t>
            </a:r>
            <a:r>
              <a:rPr dirty="0" err="1"/>
              <a:t>reabertos</a:t>
            </a:r>
            <a:r>
              <a:rPr dirty="0"/>
              <a:t> </a:t>
            </a:r>
            <a:r>
              <a:rPr dirty="0" err="1"/>
              <a:t>após</a:t>
            </a:r>
            <a:r>
              <a:rPr dirty="0"/>
              <a:t> </a:t>
            </a:r>
            <a:r>
              <a:rPr dirty="0" err="1"/>
              <a:t>correção</a:t>
            </a:r>
            <a:r>
              <a:rPr dirty="0"/>
              <a:t> (</a:t>
            </a:r>
            <a:r>
              <a:rPr dirty="0" err="1"/>
              <a:t>mede</a:t>
            </a:r>
            <a:r>
              <a:rPr dirty="0"/>
              <a:t> </a:t>
            </a:r>
            <a:r>
              <a:rPr dirty="0" err="1"/>
              <a:t>qualidade</a:t>
            </a:r>
            <a:r>
              <a:rPr dirty="0"/>
              <a:t> da </a:t>
            </a:r>
            <a:r>
              <a:rPr dirty="0" err="1"/>
              <a:t>correção</a:t>
            </a:r>
            <a:r>
              <a:rPr dirty="0"/>
              <a:t>)</a:t>
            </a:r>
          </a:p>
          <a:p>
            <a:pPr lvl="1"/>
            <a:r>
              <a:rPr b="1" dirty="0" err="1"/>
              <a:t>Distribuição</a:t>
            </a:r>
            <a:r>
              <a:rPr b="1" dirty="0"/>
              <a:t> </a:t>
            </a:r>
            <a:r>
              <a:rPr b="1" dirty="0" err="1"/>
              <a:t>por</a:t>
            </a:r>
            <a:r>
              <a:rPr b="1" dirty="0"/>
              <a:t> </a:t>
            </a:r>
            <a:r>
              <a:rPr b="1" dirty="0" err="1"/>
              <a:t>Tipo</a:t>
            </a:r>
            <a:r>
              <a:rPr dirty="0"/>
              <a:t>: </a:t>
            </a:r>
            <a:r>
              <a:rPr dirty="0" err="1"/>
              <a:t>Percentual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de bug (</a:t>
            </a:r>
            <a:r>
              <a:rPr dirty="0" err="1"/>
              <a:t>direciona</a:t>
            </a:r>
            <a:r>
              <a:rPr dirty="0"/>
              <a:t> </a:t>
            </a:r>
            <a:r>
              <a:rPr dirty="0" err="1"/>
              <a:t>investimento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 e </a:t>
            </a:r>
            <a:r>
              <a:rPr dirty="0" err="1"/>
              <a:t>revela</a:t>
            </a:r>
            <a:r>
              <a:rPr dirty="0"/>
              <a:t> </a:t>
            </a:r>
            <a:r>
              <a:rPr dirty="0" err="1"/>
              <a:t>padrões</a:t>
            </a:r>
            <a:r>
              <a:rPr dirty="0"/>
              <a:t>)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de </a:t>
            </a:r>
            <a:r>
              <a:rPr dirty="0" err="1" smtClean="0"/>
              <a:t>Acompanhamento</a:t>
            </a:r>
            <a:r>
              <a:rPr lang="pt-BR" dirty="0" smtClean="0"/>
              <a:t> – em construção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Como </a:t>
            </a:r>
            <a:r>
              <a:rPr dirty="0" err="1"/>
              <a:t>Medimos</a:t>
            </a:r>
            <a:r>
              <a:rPr dirty="0"/>
              <a:t> </a:t>
            </a:r>
            <a:r>
              <a:rPr dirty="0" err="1"/>
              <a:t>Qualidade</a:t>
            </a:r>
            <a:endParaRPr dirty="0"/>
          </a:p>
          <a:p>
            <a:pPr lvl="1"/>
            <a:r>
              <a:rPr dirty="0" err="1"/>
              <a:t>Acompanhamento</a:t>
            </a:r>
            <a:r>
              <a:rPr dirty="0"/>
              <a:t> </a:t>
            </a:r>
            <a:r>
              <a:rPr dirty="0" err="1" smtClean="0"/>
              <a:t>Semanal</a:t>
            </a:r>
            <a:r>
              <a:rPr lang="pt-BR" dirty="0" smtClean="0"/>
              <a:t>: </a:t>
            </a:r>
            <a:r>
              <a:rPr dirty="0" err="1" smtClean="0"/>
              <a:t>Leitura</a:t>
            </a:r>
            <a:r>
              <a:rPr dirty="0" smtClean="0"/>
              <a:t> </a:t>
            </a:r>
            <a:r>
              <a:rPr dirty="0" err="1"/>
              <a:t>rápida</a:t>
            </a:r>
            <a:r>
              <a:rPr dirty="0"/>
              <a:t> do dashboard, </a:t>
            </a:r>
            <a:r>
              <a:rPr dirty="0" err="1"/>
              <a:t>identificação</a:t>
            </a:r>
            <a:r>
              <a:rPr dirty="0"/>
              <a:t> de </a:t>
            </a:r>
            <a:r>
              <a:rPr dirty="0" err="1"/>
              <a:t>tendências</a:t>
            </a:r>
            <a:r>
              <a:rPr dirty="0"/>
              <a:t> e </a:t>
            </a:r>
            <a:r>
              <a:rPr dirty="0" err="1" smtClean="0"/>
              <a:t>gargalos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dirty="0" err="1"/>
              <a:t>Por</a:t>
            </a:r>
            <a:r>
              <a:rPr dirty="0"/>
              <a:t> Sprint (</a:t>
            </a:r>
            <a:r>
              <a:rPr dirty="0" err="1"/>
              <a:t>Retrospectiva</a:t>
            </a:r>
            <a:r>
              <a:rPr dirty="0"/>
              <a:t>): </a:t>
            </a:r>
            <a:r>
              <a:rPr dirty="0" err="1"/>
              <a:t>Resumo</a:t>
            </a:r>
            <a:r>
              <a:rPr dirty="0"/>
              <a:t> com Top 3 </a:t>
            </a:r>
            <a:r>
              <a:rPr dirty="0" err="1"/>
              <a:t>módulos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instáveis</a:t>
            </a:r>
            <a:r>
              <a:rPr dirty="0"/>
              <a:t>, </a:t>
            </a:r>
            <a:r>
              <a:rPr dirty="0" err="1"/>
              <a:t>tipos</a:t>
            </a:r>
            <a:r>
              <a:rPr dirty="0"/>
              <a:t> </a:t>
            </a:r>
            <a:r>
              <a:rPr dirty="0" err="1"/>
              <a:t>predominantes</a:t>
            </a:r>
            <a:r>
              <a:rPr dirty="0"/>
              <a:t> de bugs e </a:t>
            </a:r>
            <a:r>
              <a:rPr dirty="0" err="1"/>
              <a:t>ações</a:t>
            </a:r>
            <a:r>
              <a:rPr dirty="0"/>
              <a:t> de </a:t>
            </a:r>
            <a:r>
              <a:rPr dirty="0" err="1"/>
              <a:t>melhoria</a:t>
            </a:r>
            <a:r>
              <a:rPr dirty="0"/>
              <a:t> </a:t>
            </a:r>
            <a:r>
              <a:rPr dirty="0" err="1" smtClean="0"/>
              <a:t>contínua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Esperado</a:t>
            </a:r>
            <a:r>
              <a:rPr dirty="0"/>
              <a:t>: </a:t>
            </a:r>
            <a:r>
              <a:rPr dirty="0" err="1"/>
              <a:t>Qualidade</a:t>
            </a:r>
            <a:r>
              <a:rPr dirty="0"/>
              <a:t> </a:t>
            </a:r>
            <a:r>
              <a:rPr dirty="0" err="1"/>
              <a:t>deixa</a:t>
            </a:r>
            <a:r>
              <a:rPr dirty="0"/>
              <a:t> de </a:t>
            </a:r>
            <a:r>
              <a:rPr dirty="0" err="1"/>
              <a:t>ser</a:t>
            </a:r>
            <a:r>
              <a:rPr dirty="0"/>
              <a:t> </a:t>
            </a:r>
            <a:r>
              <a:rPr dirty="0" err="1"/>
              <a:t>subjetiva</a:t>
            </a:r>
            <a:r>
              <a:rPr dirty="0"/>
              <a:t> e </a:t>
            </a:r>
            <a:r>
              <a:rPr dirty="0" err="1"/>
              <a:t>vira</a:t>
            </a:r>
            <a:r>
              <a:rPr dirty="0"/>
              <a:t> </a:t>
            </a:r>
            <a:r>
              <a:rPr dirty="0" smtClean="0"/>
              <a:t>dado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dirty="0" err="1"/>
              <a:t>Módulos</a:t>
            </a:r>
            <a:r>
              <a:rPr dirty="0"/>
              <a:t> </a:t>
            </a:r>
            <a:r>
              <a:rPr dirty="0" err="1"/>
              <a:t>instáveis</a:t>
            </a:r>
            <a:r>
              <a:rPr dirty="0"/>
              <a:t> </a:t>
            </a:r>
            <a:r>
              <a:rPr dirty="0" err="1"/>
              <a:t>ficam</a:t>
            </a:r>
            <a:r>
              <a:rPr dirty="0"/>
              <a:t> </a:t>
            </a:r>
            <a:r>
              <a:rPr dirty="0" err="1"/>
              <a:t>evidentes</a:t>
            </a:r>
            <a:r>
              <a:rPr dirty="0"/>
              <a:t> e </a:t>
            </a:r>
            <a:r>
              <a:rPr dirty="0" err="1" smtClean="0"/>
              <a:t>priorizáveis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dirty="0" err="1"/>
              <a:t>Redução</a:t>
            </a:r>
            <a:r>
              <a:rPr dirty="0"/>
              <a:t> </a:t>
            </a:r>
            <a:r>
              <a:rPr dirty="0" err="1"/>
              <a:t>progressiva</a:t>
            </a:r>
            <a:r>
              <a:rPr dirty="0"/>
              <a:t> de escape para </a:t>
            </a:r>
            <a:r>
              <a:rPr dirty="0" err="1" smtClean="0"/>
              <a:t>Produção</a:t>
            </a:r>
            <a:r>
              <a:rPr dirty="0" smtClean="0"/>
              <a:t> </a:t>
            </a:r>
            <a:r>
              <a:rPr dirty="0"/>
              <a:t>e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 smtClean="0"/>
              <a:t>retrabalho</a:t>
            </a:r>
            <a:r>
              <a:rPr lang="pt-BR" dirty="0" smtClean="0"/>
              <a:t>;</a:t>
            </a:r>
            <a:endParaRPr dirty="0"/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Operacional de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Jornada de uma História - Do Refinamento ao Deploy</a:t>
            </a:r>
          </a:p>
          <a:p>
            <a:pPr lvl="1"/>
            <a:r>
              <a:t>1. Refinamento: Validar DoR + critérios testáveis + riscos e dependências</a:t>
            </a:r>
          </a:p>
          <a:p>
            <a:pPr lvl="1"/>
            <a:r>
              <a:t>2. Planejamento: Alinhar escopo de testes e necessidades (dados/ambiente)</a:t>
            </a:r>
          </a:p>
          <a:p>
            <a:pPr lvl="1"/>
            <a:r>
              <a:t>3. Durante Desenvolvimento: Acompanhar, revisar testabilidade e preparar CTs/massa</a:t>
            </a:r>
          </a:p>
          <a:p>
            <a:pPr lvl="1"/>
            <a:r>
              <a:t>4. Deploy em Homologação: Confirmar versão/correção correta para ciclo/release</a:t>
            </a:r>
          </a:p>
          <a:p>
            <a:pPr lvl="1"/>
            <a:r>
              <a:t>5. Execução de Testes: Funcional + regressão + integrações conforme risco</a:t>
            </a:r>
          </a:p>
          <a:p>
            <a:pPr lvl="1"/>
            <a:r>
              <a:t>6. Registro de Bugs: Com severidade, prioridade, evidência e rastreabilidade</a:t>
            </a:r>
          </a:p>
          <a:p>
            <a:pPr lvl="1"/>
            <a:r>
              <a:t>7. Re-teste: Validar correções, evitar reabertura por falta de evidência</a:t>
            </a:r>
          </a:p>
          <a:p>
            <a:pPr lvl="1"/>
            <a:r>
              <a:t>8. Aprovação: Liberar ou bloquear conforme critérios e riscos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Esperados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Impacto</a:t>
            </a:r>
            <a:r>
              <a:rPr dirty="0"/>
              <a:t> no </a:t>
            </a:r>
            <a:r>
              <a:rPr dirty="0" err="1"/>
              <a:t>Negócio</a:t>
            </a:r>
            <a:r>
              <a:rPr dirty="0"/>
              <a:t> e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Operação</a:t>
            </a:r>
            <a:endParaRPr dirty="0"/>
          </a:p>
          <a:p>
            <a:pPr lvl="1"/>
            <a:r>
              <a:rPr b="1" dirty="0" err="1"/>
              <a:t>Redução</a:t>
            </a:r>
            <a:r>
              <a:rPr b="1" dirty="0"/>
              <a:t> de Escape </a:t>
            </a:r>
            <a:r>
              <a:rPr b="1" dirty="0" smtClean="0"/>
              <a:t>para </a:t>
            </a:r>
            <a:r>
              <a:rPr b="1" dirty="0" err="1"/>
              <a:t>Produção</a:t>
            </a:r>
            <a:r>
              <a:rPr dirty="0"/>
              <a:t>: </a:t>
            </a:r>
            <a:r>
              <a:rPr dirty="0" err="1"/>
              <a:t>Menos</a:t>
            </a:r>
            <a:r>
              <a:rPr dirty="0"/>
              <a:t> bugs </a:t>
            </a:r>
            <a:r>
              <a:rPr dirty="0" err="1"/>
              <a:t>chegando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smtClean="0"/>
              <a:t>final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b="1" dirty="0" err="1" smtClean="0"/>
              <a:t>Módulos</a:t>
            </a:r>
            <a:r>
              <a:rPr b="1" dirty="0" smtClean="0"/>
              <a:t> </a:t>
            </a:r>
            <a:r>
              <a:rPr b="1" dirty="0" err="1" smtClean="0"/>
              <a:t>Instáveis</a:t>
            </a:r>
            <a:r>
              <a:rPr b="1" dirty="0" smtClean="0"/>
              <a:t> </a:t>
            </a:r>
            <a:r>
              <a:rPr b="1" dirty="0" err="1" smtClean="0"/>
              <a:t>Evidentes</a:t>
            </a:r>
            <a:r>
              <a:rPr b="1" dirty="0" smtClean="0"/>
              <a:t>: </a:t>
            </a:r>
            <a:r>
              <a:rPr dirty="0" smtClean="0"/>
              <a:t>Dados </a:t>
            </a:r>
            <a:r>
              <a:rPr dirty="0" err="1"/>
              <a:t>direcionam</a:t>
            </a:r>
            <a:r>
              <a:rPr dirty="0"/>
              <a:t> </a:t>
            </a:r>
            <a:r>
              <a:rPr dirty="0" err="1"/>
              <a:t>refatoração</a:t>
            </a:r>
            <a:r>
              <a:rPr dirty="0"/>
              <a:t> e hardening </a:t>
            </a:r>
            <a:r>
              <a:rPr dirty="0" err="1" smtClean="0"/>
              <a:t>técnico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b="1" dirty="0" err="1"/>
              <a:t>Menos</a:t>
            </a:r>
            <a:r>
              <a:rPr b="1" dirty="0"/>
              <a:t> </a:t>
            </a:r>
            <a:r>
              <a:rPr b="1" dirty="0" err="1"/>
              <a:t>Retrabalho</a:t>
            </a:r>
            <a:r>
              <a:rPr dirty="0"/>
              <a:t>: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taxa de </a:t>
            </a:r>
            <a:r>
              <a:rPr dirty="0" err="1"/>
              <a:t>reabertura</a:t>
            </a:r>
            <a:r>
              <a:rPr dirty="0"/>
              <a:t> e </a:t>
            </a:r>
            <a:r>
              <a:rPr dirty="0" err="1"/>
              <a:t>melhoria</a:t>
            </a:r>
            <a:r>
              <a:rPr dirty="0"/>
              <a:t> no lead time de </a:t>
            </a:r>
            <a:r>
              <a:rPr dirty="0" err="1" smtClean="0"/>
              <a:t>correção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b="1" dirty="0" err="1"/>
              <a:t>Decisões</a:t>
            </a:r>
            <a:r>
              <a:rPr b="1" dirty="0"/>
              <a:t> </a:t>
            </a:r>
            <a:r>
              <a:rPr b="1" dirty="0" err="1"/>
              <a:t>Baseadas</a:t>
            </a:r>
            <a:r>
              <a:rPr b="1" dirty="0"/>
              <a:t> </a:t>
            </a:r>
            <a:r>
              <a:rPr b="1" dirty="0" err="1"/>
              <a:t>em</a:t>
            </a:r>
            <a:r>
              <a:rPr b="1" dirty="0"/>
              <a:t> Dados</a:t>
            </a:r>
            <a:r>
              <a:rPr dirty="0"/>
              <a:t>: </a:t>
            </a:r>
            <a:r>
              <a:rPr dirty="0" err="1"/>
              <a:t>Qualidade</a:t>
            </a:r>
            <a:r>
              <a:rPr dirty="0"/>
              <a:t> </a:t>
            </a:r>
            <a:r>
              <a:rPr dirty="0" err="1"/>
              <a:t>deixa</a:t>
            </a:r>
            <a:r>
              <a:rPr dirty="0"/>
              <a:t> de </a:t>
            </a:r>
            <a:r>
              <a:rPr dirty="0" err="1"/>
              <a:t>ser</a:t>
            </a:r>
            <a:r>
              <a:rPr dirty="0"/>
              <a:t> </a:t>
            </a:r>
            <a:r>
              <a:rPr dirty="0" err="1"/>
              <a:t>opinião</a:t>
            </a:r>
            <a:r>
              <a:rPr dirty="0"/>
              <a:t> e </a:t>
            </a:r>
            <a:r>
              <a:rPr dirty="0" err="1"/>
              <a:t>vira</a:t>
            </a:r>
            <a:r>
              <a:rPr dirty="0"/>
              <a:t> </a:t>
            </a:r>
            <a:r>
              <a:rPr dirty="0" err="1"/>
              <a:t>métrica</a:t>
            </a:r>
            <a:r>
              <a:rPr dirty="0"/>
              <a:t> </a:t>
            </a:r>
            <a:r>
              <a:rPr dirty="0" err="1" smtClean="0"/>
              <a:t>acionável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b="1" dirty="0" err="1"/>
              <a:t>Alinhamento</a:t>
            </a:r>
            <a:r>
              <a:rPr b="1" dirty="0"/>
              <a:t> de </a:t>
            </a:r>
            <a:r>
              <a:rPr b="1" dirty="0" err="1"/>
              <a:t>Expectativas</a:t>
            </a:r>
            <a:r>
              <a:rPr dirty="0"/>
              <a:t>: </a:t>
            </a:r>
            <a:r>
              <a:rPr dirty="0" err="1"/>
              <a:t>Escopo</a:t>
            </a:r>
            <a:r>
              <a:rPr dirty="0"/>
              <a:t> </a:t>
            </a:r>
            <a:r>
              <a:rPr dirty="0" err="1"/>
              <a:t>claro</a:t>
            </a:r>
            <a:r>
              <a:rPr dirty="0"/>
              <a:t> de QA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as </a:t>
            </a:r>
            <a:r>
              <a:rPr dirty="0" err="1"/>
              <a:t>fases</a:t>
            </a:r>
            <a:r>
              <a:rPr dirty="0"/>
              <a:t> do </a:t>
            </a:r>
            <a:r>
              <a:rPr dirty="0" err="1" smtClean="0"/>
              <a:t>desenvolvimento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b="1" dirty="0" err="1"/>
              <a:t>Melhoria</a:t>
            </a:r>
            <a:r>
              <a:rPr b="1" dirty="0"/>
              <a:t> </a:t>
            </a:r>
            <a:r>
              <a:rPr b="1" dirty="0" err="1"/>
              <a:t>Contínua</a:t>
            </a:r>
            <a:r>
              <a:rPr b="1" dirty="0"/>
              <a:t>: </a:t>
            </a:r>
            <a:r>
              <a:rPr dirty="0" err="1"/>
              <a:t>Retrospectivas</a:t>
            </a:r>
            <a:r>
              <a:rPr dirty="0"/>
              <a:t> com </a:t>
            </a:r>
            <a:r>
              <a:rPr dirty="0" err="1"/>
              <a:t>foco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ações</a:t>
            </a:r>
            <a:r>
              <a:rPr dirty="0"/>
              <a:t> de </a:t>
            </a:r>
            <a:r>
              <a:rPr dirty="0" err="1"/>
              <a:t>qualidade</a:t>
            </a:r>
            <a:r>
              <a:rPr dirty="0"/>
              <a:t> e </a:t>
            </a:r>
            <a:r>
              <a:rPr dirty="0" err="1" smtClean="0"/>
              <a:t>prevenção</a:t>
            </a:r>
            <a:r>
              <a:rPr lang="pt-BR" dirty="0" smtClean="0"/>
              <a:t>.</a:t>
            </a:r>
            <a:endParaRPr dirty="0"/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Evolução</a:t>
            </a:r>
            <a:r>
              <a:rPr dirty="0"/>
              <a:t> </a:t>
            </a:r>
            <a:r>
              <a:rPr dirty="0" err="1"/>
              <a:t>Contínua</a:t>
            </a:r>
            <a:r>
              <a:rPr dirty="0"/>
              <a:t> do </a:t>
            </a:r>
            <a:r>
              <a:rPr dirty="0" err="1"/>
              <a:t>Setor</a:t>
            </a:r>
            <a:r>
              <a:rPr dirty="0"/>
              <a:t> de QA</a:t>
            </a:r>
          </a:p>
          <a:p>
            <a:pPr lvl="1"/>
            <a:r>
              <a:rPr b="1" dirty="0" err="1"/>
              <a:t>Automação</a:t>
            </a:r>
            <a:r>
              <a:rPr b="1" dirty="0"/>
              <a:t> de Testes</a:t>
            </a:r>
            <a:r>
              <a:rPr dirty="0"/>
              <a:t>: </a:t>
            </a:r>
            <a:r>
              <a:rPr dirty="0" err="1"/>
              <a:t>Priorizar</a:t>
            </a:r>
            <a:r>
              <a:rPr dirty="0"/>
              <a:t> testes </a:t>
            </a:r>
            <a:r>
              <a:rPr dirty="0" err="1"/>
              <a:t>repetitivos</a:t>
            </a:r>
            <a:r>
              <a:rPr dirty="0"/>
              <a:t> e </a:t>
            </a:r>
            <a:r>
              <a:rPr dirty="0" err="1"/>
              <a:t>regressões</a:t>
            </a:r>
            <a:r>
              <a:rPr dirty="0"/>
              <a:t> </a:t>
            </a:r>
            <a:r>
              <a:rPr dirty="0" err="1" smtClean="0"/>
              <a:t>frequentes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b="1" dirty="0" err="1"/>
              <a:t>Manutenção</a:t>
            </a:r>
            <a:r>
              <a:rPr b="1" dirty="0"/>
              <a:t> de </a:t>
            </a:r>
            <a:r>
              <a:rPr b="1" dirty="0" err="1"/>
              <a:t>Suíte</a:t>
            </a:r>
            <a:r>
              <a:rPr b="1" dirty="0"/>
              <a:t> </a:t>
            </a:r>
            <a:r>
              <a:rPr b="1" dirty="0" err="1"/>
              <a:t>Automatizada</a:t>
            </a:r>
            <a:r>
              <a:rPr dirty="0"/>
              <a:t>: </a:t>
            </a:r>
            <a:r>
              <a:rPr dirty="0" err="1"/>
              <a:t>Evoluir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conjunto</a:t>
            </a:r>
            <a:r>
              <a:rPr dirty="0"/>
              <a:t> com time </a:t>
            </a:r>
            <a:r>
              <a:rPr dirty="0" err="1" smtClean="0"/>
              <a:t>técnico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b="1" dirty="0" err="1"/>
              <a:t>Definição</a:t>
            </a:r>
            <a:r>
              <a:rPr b="1" dirty="0"/>
              <a:t> de </a:t>
            </a:r>
            <a:r>
              <a:rPr b="1" dirty="0" err="1"/>
              <a:t>Metas</a:t>
            </a:r>
            <a:r>
              <a:rPr b="1" dirty="0"/>
              <a:t> e SLAs</a:t>
            </a:r>
            <a:r>
              <a:rPr dirty="0"/>
              <a:t>: </a:t>
            </a:r>
            <a:r>
              <a:rPr dirty="0" err="1"/>
              <a:t>Após</a:t>
            </a:r>
            <a:r>
              <a:rPr dirty="0"/>
              <a:t> 2-3 sprints com baseline </a:t>
            </a:r>
            <a:r>
              <a:rPr dirty="0" err="1" smtClean="0"/>
              <a:t>confiável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b="1" dirty="0" err="1"/>
              <a:t>Revisão</a:t>
            </a:r>
            <a:r>
              <a:rPr b="1" dirty="0"/>
              <a:t> de </a:t>
            </a:r>
            <a:r>
              <a:rPr b="1" dirty="0" err="1"/>
              <a:t>Padrões</a:t>
            </a:r>
            <a:r>
              <a:rPr dirty="0"/>
              <a:t>: </a:t>
            </a:r>
            <a:r>
              <a:rPr dirty="0" err="1"/>
              <a:t>Atualizar</a:t>
            </a:r>
            <a:r>
              <a:rPr dirty="0"/>
              <a:t> </a:t>
            </a:r>
            <a:r>
              <a:rPr dirty="0" err="1"/>
              <a:t>DoR</a:t>
            </a:r>
            <a:r>
              <a:rPr dirty="0"/>
              <a:t>/DoD, templates de bug e checklists </a:t>
            </a:r>
            <a:r>
              <a:rPr dirty="0" err="1"/>
              <a:t>conforme</a:t>
            </a:r>
            <a:r>
              <a:rPr dirty="0"/>
              <a:t> </a:t>
            </a:r>
            <a:r>
              <a:rPr dirty="0" err="1"/>
              <a:t>evolução</a:t>
            </a:r>
            <a:r>
              <a:rPr dirty="0"/>
              <a:t> do </a:t>
            </a:r>
            <a:r>
              <a:rPr dirty="0" err="1" smtClean="0"/>
              <a:t>produto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b="1" dirty="0" err="1"/>
              <a:t>Participação</a:t>
            </a:r>
            <a:r>
              <a:rPr b="1" dirty="0"/>
              <a:t> </a:t>
            </a:r>
            <a:r>
              <a:rPr b="1" dirty="0" err="1"/>
              <a:t>em</a:t>
            </a:r>
            <a:r>
              <a:rPr b="1" dirty="0"/>
              <a:t> </a:t>
            </a:r>
            <a:r>
              <a:rPr b="1" dirty="0" err="1"/>
              <a:t>Retrospectivas</a:t>
            </a:r>
            <a:r>
              <a:rPr dirty="0"/>
              <a:t>: </a:t>
            </a:r>
            <a:r>
              <a:rPr dirty="0" err="1"/>
              <a:t>Foco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ações</a:t>
            </a:r>
            <a:r>
              <a:rPr dirty="0"/>
              <a:t> de </a:t>
            </a:r>
            <a:r>
              <a:rPr dirty="0" err="1"/>
              <a:t>qualidade</a:t>
            </a:r>
            <a:r>
              <a:rPr dirty="0"/>
              <a:t> e </a:t>
            </a:r>
            <a:r>
              <a:rPr dirty="0" err="1"/>
              <a:t>prevenção</a:t>
            </a:r>
            <a:r>
              <a:rPr dirty="0"/>
              <a:t> de </a:t>
            </a:r>
            <a:r>
              <a:rPr dirty="0" err="1" smtClean="0"/>
              <a:t>regressões</a:t>
            </a:r>
            <a:r>
              <a:rPr lang="pt-BR" dirty="0" smtClean="0"/>
              <a:t>;</a:t>
            </a:r>
            <a:endParaRPr dirty="0"/>
          </a:p>
          <a:p>
            <a:pPr lvl="1"/>
            <a:r>
              <a:rPr b="1" dirty="0" err="1"/>
              <a:t>Documentação</a:t>
            </a:r>
            <a:r>
              <a:rPr b="1" dirty="0"/>
              <a:t> </a:t>
            </a:r>
            <a:r>
              <a:rPr b="1" dirty="0" err="1"/>
              <a:t>Técnica</a:t>
            </a:r>
            <a:r>
              <a:rPr dirty="0"/>
              <a:t>: </a:t>
            </a:r>
            <a:r>
              <a:rPr dirty="0" err="1"/>
              <a:t>Manter</a:t>
            </a:r>
            <a:r>
              <a:rPr dirty="0"/>
              <a:t> </a:t>
            </a:r>
            <a:r>
              <a:rPr dirty="0" err="1"/>
              <a:t>atualizada</a:t>
            </a:r>
            <a:r>
              <a:rPr dirty="0"/>
              <a:t> para </a:t>
            </a:r>
            <a:r>
              <a:rPr dirty="0" err="1"/>
              <a:t>facilitar</a:t>
            </a:r>
            <a:r>
              <a:rPr dirty="0"/>
              <a:t> onboarding e </a:t>
            </a:r>
            <a:r>
              <a:rPr dirty="0" err="1"/>
              <a:t>transferência</a:t>
            </a:r>
            <a:r>
              <a:rPr dirty="0"/>
              <a:t> de </a:t>
            </a:r>
            <a:r>
              <a:rPr dirty="0" err="1" smtClean="0"/>
              <a:t>conhecimento</a:t>
            </a:r>
            <a:r>
              <a:rPr lang="pt-BR" dirty="0" smtClean="0"/>
              <a:t>.</a:t>
            </a:r>
            <a:endParaRPr dirty="0"/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Qualidade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Dado,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Opinião</a:t>
            </a:r>
            <a:endParaRPr dirty="0"/>
          </a:p>
          <a:p>
            <a:pPr lvl="1"/>
            <a:r>
              <a:rPr b="1" dirty="0" err="1"/>
              <a:t>Estrutura</a:t>
            </a:r>
            <a:r>
              <a:rPr b="1" dirty="0"/>
              <a:t> </a:t>
            </a:r>
            <a:r>
              <a:rPr b="1" dirty="0" err="1"/>
              <a:t>Sólida</a:t>
            </a:r>
            <a:r>
              <a:rPr dirty="0"/>
              <a:t>: QA </a:t>
            </a:r>
            <a:r>
              <a:rPr dirty="0" err="1"/>
              <a:t>atuando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o </a:t>
            </a:r>
            <a:r>
              <a:rPr dirty="0" err="1"/>
              <a:t>refinamento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o </a:t>
            </a:r>
            <a:r>
              <a:rPr dirty="0" err="1"/>
              <a:t>pós</a:t>
            </a:r>
            <a:r>
              <a:rPr dirty="0"/>
              <a:t>-deploy</a:t>
            </a:r>
          </a:p>
          <a:p>
            <a:pPr lvl="1"/>
            <a:r>
              <a:rPr b="1" dirty="0" err="1"/>
              <a:t>Processos</a:t>
            </a:r>
            <a:r>
              <a:rPr b="1" dirty="0"/>
              <a:t> Claros</a:t>
            </a:r>
            <a:r>
              <a:rPr dirty="0"/>
              <a:t>: </a:t>
            </a:r>
            <a:r>
              <a:rPr dirty="0" err="1"/>
              <a:t>DoR</a:t>
            </a:r>
            <a:r>
              <a:rPr dirty="0"/>
              <a:t>/DoD, </a:t>
            </a:r>
            <a:r>
              <a:rPr dirty="0" err="1"/>
              <a:t>gestão</a:t>
            </a:r>
            <a:r>
              <a:rPr dirty="0"/>
              <a:t> de bugs, </a:t>
            </a:r>
            <a:r>
              <a:rPr dirty="0" err="1"/>
              <a:t>severidade</a:t>
            </a:r>
            <a:r>
              <a:rPr dirty="0"/>
              <a:t> e </a:t>
            </a:r>
            <a:r>
              <a:rPr dirty="0" err="1"/>
              <a:t>prioridade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</a:t>
            </a:r>
            <a:r>
              <a:rPr dirty="0" err="1"/>
              <a:t>definidos</a:t>
            </a:r>
            <a:endParaRPr dirty="0"/>
          </a:p>
          <a:p>
            <a:pPr lvl="1"/>
            <a:r>
              <a:rPr b="1" dirty="0" err="1"/>
              <a:t>Métricas</a:t>
            </a:r>
            <a:r>
              <a:rPr b="1" dirty="0"/>
              <a:t> </a:t>
            </a:r>
            <a:r>
              <a:rPr b="1" dirty="0" err="1"/>
              <a:t>Acionáveis</a:t>
            </a:r>
            <a:r>
              <a:rPr dirty="0"/>
              <a:t>: 5 KPIs </a:t>
            </a:r>
            <a:r>
              <a:rPr dirty="0" err="1"/>
              <a:t>iniciais</a:t>
            </a:r>
            <a:r>
              <a:rPr dirty="0"/>
              <a:t> para baseline e </a:t>
            </a:r>
            <a:r>
              <a:rPr dirty="0" err="1"/>
              <a:t>tomada</a:t>
            </a:r>
            <a:r>
              <a:rPr dirty="0"/>
              <a:t> de </a:t>
            </a:r>
            <a:r>
              <a:rPr dirty="0" err="1"/>
              <a:t>decisão</a:t>
            </a:r>
            <a:endParaRPr dirty="0"/>
          </a:p>
          <a:p>
            <a:pPr lvl="1"/>
            <a:r>
              <a:rPr b="1" dirty="0" err="1"/>
              <a:t>Transparência</a:t>
            </a:r>
            <a:r>
              <a:rPr b="1" dirty="0"/>
              <a:t> Total: </a:t>
            </a:r>
            <a:r>
              <a:rPr dirty="0"/>
              <a:t>Dashboard </a:t>
            </a:r>
            <a:r>
              <a:rPr dirty="0" err="1"/>
              <a:t>semanal</a:t>
            </a:r>
            <a:r>
              <a:rPr dirty="0"/>
              <a:t> e </a:t>
            </a:r>
            <a:r>
              <a:rPr dirty="0" err="1"/>
              <a:t>retrospectivas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sprint</a:t>
            </a:r>
          </a:p>
          <a:p>
            <a:pPr lvl="1"/>
            <a:r>
              <a:rPr b="1" dirty="0" err="1"/>
              <a:t>Foco</a:t>
            </a:r>
            <a:r>
              <a:rPr b="1" dirty="0"/>
              <a:t> no </a:t>
            </a:r>
            <a:r>
              <a:rPr b="1" dirty="0" err="1"/>
              <a:t>Negócio</a:t>
            </a:r>
            <a:r>
              <a:rPr dirty="0"/>
              <a:t>: </a:t>
            </a:r>
            <a:r>
              <a:rPr dirty="0" err="1"/>
              <a:t>Reduzir</a:t>
            </a:r>
            <a:r>
              <a:rPr dirty="0"/>
              <a:t> escape para </a:t>
            </a:r>
            <a:r>
              <a:rPr dirty="0" err="1"/>
              <a:t>Produção</a:t>
            </a:r>
            <a:r>
              <a:rPr dirty="0"/>
              <a:t> e </a:t>
            </a:r>
            <a:r>
              <a:rPr dirty="0" err="1"/>
              <a:t>melhorar</a:t>
            </a:r>
            <a:r>
              <a:rPr dirty="0"/>
              <a:t> </a:t>
            </a:r>
            <a:r>
              <a:rPr dirty="0" err="1"/>
              <a:t>experiência</a:t>
            </a:r>
            <a:r>
              <a:rPr dirty="0"/>
              <a:t> do </a:t>
            </a:r>
            <a:r>
              <a:rPr dirty="0" err="1" smtClean="0"/>
              <a:t>usuário</a:t>
            </a:r>
            <a:endParaRPr lang="pt-BR" dirty="0" smtClean="0"/>
          </a:p>
          <a:p>
            <a:pPr lvl="1"/>
            <a:endParaRPr dirty="0"/>
          </a:p>
          <a:p>
            <a:pPr marL="457200" lvl="1" indent="0">
              <a:buNone/>
            </a:pPr>
            <a:r>
              <a:rPr i="1" dirty="0" err="1"/>
              <a:t>Qualidade</a:t>
            </a:r>
            <a:r>
              <a:rPr i="1" dirty="0"/>
              <a:t> é </a:t>
            </a:r>
            <a:r>
              <a:rPr i="1" dirty="0" err="1"/>
              <a:t>responsabilidade</a:t>
            </a:r>
            <a:r>
              <a:rPr i="1" dirty="0"/>
              <a:t> </a:t>
            </a:r>
            <a:r>
              <a:rPr i="1" dirty="0" err="1"/>
              <a:t>compartilhada</a:t>
            </a:r>
            <a:r>
              <a:rPr i="1" dirty="0"/>
              <a:t>. QA </a:t>
            </a:r>
            <a:r>
              <a:rPr i="1" dirty="0" err="1"/>
              <a:t>facilita</a:t>
            </a:r>
            <a:r>
              <a:rPr i="1" dirty="0"/>
              <a:t>, </a:t>
            </a:r>
            <a:r>
              <a:rPr i="1" dirty="0" err="1"/>
              <a:t>valida</a:t>
            </a:r>
            <a:r>
              <a:rPr i="1" dirty="0"/>
              <a:t> e </a:t>
            </a:r>
            <a:r>
              <a:rPr i="1" dirty="0" err="1"/>
              <a:t>mede</a:t>
            </a:r>
            <a:r>
              <a:rPr i="1" dirty="0"/>
              <a:t>. O time </a:t>
            </a:r>
            <a:r>
              <a:rPr i="1" dirty="0" err="1"/>
              <a:t>constrói</a:t>
            </a:r>
            <a:r>
              <a:rPr i="1" dirty="0"/>
              <a:t>.</a:t>
            </a:r>
          </a:p>
        </p:txBody>
      </p:sp>
      <p:pic>
        <p:nvPicPr>
          <p:cNvPr id="4" name="Picture 2" descr="Avaliações da empresa Biud Marketing: Como é trabalhar nela? | Glassdo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1170</Words>
  <Application>Microsoft Office PowerPoint</Application>
  <PresentationFormat>Widescreen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Setor de Qualidade - BIUD</vt:lpstr>
      <vt:lpstr>Contexto e Objetivo</vt:lpstr>
      <vt:lpstr>Estrutura do Setor de QA</vt:lpstr>
      <vt:lpstr>Responsabilidades por Fase</vt:lpstr>
      <vt:lpstr>Processos Implementados - DoR/DoD</vt:lpstr>
      <vt:lpstr>Gestão de Bugs e Sub-bugs</vt:lpstr>
      <vt:lpstr>Tipos de Bugs</vt:lpstr>
      <vt:lpstr>Severidade vs Prioridade</vt:lpstr>
      <vt:lpstr>KPIs de Qualidade</vt:lpstr>
      <vt:lpstr>Dashboard de Acompanhamento – em construção</vt:lpstr>
      <vt:lpstr>Fluxo Operacional de QA</vt:lpstr>
      <vt:lpstr>Resultados Esperados</vt:lpstr>
      <vt:lpstr>Próximos Passos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Alinhamento DoR x DoD</dc:title>
  <dc:creator>Rogério</dc:creator>
  <cp:lastModifiedBy>Rogério</cp:lastModifiedBy>
  <cp:revision>9</cp:revision>
  <dcterms:created xsi:type="dcterms:W3CDTF">2026-02-04T17:10:11Z</dcterms:created>
  <dcterms:modified xsi:type="dcterms:W3CDTF">2026-02-27T19:33:43Z</dcterms:modified>
</cp:coreProperties>
</file>